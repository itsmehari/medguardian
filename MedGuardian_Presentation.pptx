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9" Type="http://schemas.openxmlformats.org/officeDocument/2006/relationships/viewProps" Target="viewProps.xml" /><Relationship Id="rId1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1" Type="http://schemas.openxmlformats.org/officeDocument/2006/relationships/tableStyles" Target="tableStyles.xml" /><Relationship Id="rId2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MedGuardian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AI-Assisted Early Disease Detection System</a:t>
            </a:r>
          </a:p>
          <a:p>
            <a:pPr lvl="0" indent="0" marL="0">
              <a:buNone/>
            </a:pPr>
            <a:r>
              <a:rPr b="1"/>
              <a:t>B.Sc. Computer Science — Final Year Project</a:t>
            </a:r>
          </a:p>
          <a:p>
            <a:pPr lvl="0" indent="0" marL="0">
              <a:buNone/>
            </a:pPr>
            <a:r>
              <a:rPr b="1"/>
              <a:t>[Your Full Name]</a:t>
            </a:r>
            <a:r>
              <a:rPr/>
              <a:t> | </a:t>
            </a:r>
            <a:r>
              <a:rPr b="1"/>
              <a:t>[Guide Name]</a:t>
            </a:r>
            <a:r>
              <a:rPr/>
              <a:t> | </a:t>
            </a:r>
            <a:r>
              <a:rPr b="1"/>
              <a:t>[College Name]</a:t>
            </a:r>
            <a:r>
              <a:rPr/>
              <a:t> | [2024 – 2025]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Introduction &amp; Problem Statement</a:t>
            </a:r>
          </a:p>
          <a:p>
            <a:pPr lvl="0" indent="-342900" marL="342900">
              <a:buAutoNum type="arabicPeriod"/>
            </a:pPr>
            <a:r>
              <a:rPr/>
              <a:t>Objectives &amp; Scope</a:t>
            </a:r>
          </a:p>
          <a:p>
            <a:pPr lvl="0" indent="-342900" marL="342900">
              <a:buAutoNum type="arabicPeriod"/>
            </a:pPr>
            <a:r>
              <a:rPr/>
              <a:t>System Architecture</a:t>
            </a:r>
          </a:p>
          <a:p>
            <a:pPr lvl="0" indent="-342900" marL="342900">
              <a:buAutoNum type="arabicPeriod"/>
            </a:pPr>
            <a:r>
              <a:rPr/>
              <a:t>Key Modules</a:t>
            </a:r>
          </a:p>
          <a:p>
            <a:pPr lvl="0" indent="-342900" marL="342900">
              <a:buAutoNum type="arabicPeriod"/>
            </a:pPr>
            <a:r>
              <a:rPr/>
              <a:t>Technology Stack</a:t>
            </a:r>
          </a:p>
          <a:p>
            <a:pPr lvl="0" indent="-342900" marL="342900">
              <a:buAutoNum type="arabicPeriod"/>
            </a:pPr>
            <a:r>
              <a:rPr/>
              <a:t>Risk Score Formulae</a:t>
            </a:r>
          </a:p>
          <a:p>
            <a:pPr lvl="0" indent="-342900" marL="342900">
              <a:buAutoNum type="arabicPeriod"/>
            </a:pPr>
            <a:r>
              <a:rPr/>
              <a:t>Datasets &amp; Sample Reports</a:t>
            </a:r>
          </a:p>
          <a:p>
            <a:pPr lvl="0" indent="-342900" marL="342900">
              <a:buAutoNum type="arabicPeriod"/>
            </a:pPr>
            <a:r>
              <a:rPr/>
              <a:t>Demo &amp; Results</a:t>
            </a:r>
          </a:p>
          <a:p>
            <a:pPr lvl="0" indent="-342900" marL="342900">
              <a:buAutoNum type="arabicPeriod"/>
            </a:pPr>
            <a:r>
              <a:rPr/>
              <a:t>Deployment (Git &amp; Streamlit Cloud)</a:t>
            </a:r>
          </a:p>
          <a:p>
            <a:pPr lvl="0" indent="-342900" marL="342900">
              <a:buAutoNum type="arabicPeriod"/>
            </a:pPr>
            <a:r>
              <a:rPr/>
              <a:t>Limitations &amp; Future Work</a:t>
            </a:r>
          </a:p>
          <a:p>
            <a:pPr lvl="0" indent="-342900" marL="342900">
              <a:buAutoNum type="arabicPeriod"/>
            </a:pPr>
            <a:r>
              <a:rPr/>
              <a:t>Conclusion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Chronic conditions (diabetes, hypertension, cholesterol) need early risk detection</a:t>
            </a:r>
          </a:p>
          <a:p>
            <a:pPr lvl="0"/>
            <a:r>
              <a:rPr/>
              <a:t>Lab reports are PDFs — text-based or scanned</a:t>
            </a:r>
          </a:p>
          <a:p>
            <a:pPr lvl="0"/>
            <a:r>
              <a:rPr/>
              <a:t>Manual data entry is tedious and error-prone</a:t>
            </a:r>
          </a:p>
          <a:p>
            <a:pPr lvl="0"/>
            <a:r>
              <a:rPr b="1"/>
              <a:t>MedGuardian</a:t>
            </a:r>
            <a:r>
              <a:rPr/>
              <a:t> automates extraction and risk computation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Extract biomarker values from PDF lab reports</a:t>
            </a:r>
          </a:p>
          <a:p>
            <a:pPr lvl="0"/>
            <a:r>
              <a:rPr/>
              <a:t>Support both text-based and scanned PDFs (OCR)</a:t>
            </a:r>
          </a:p>
          <a:p>
            <a:pPr lvl="0"/>
            <a:r>
              <a:rPr/>
              <a:t>Compute standardised risk scores for diabetes, BP, cholesterol</a:t>
            </a:r>
          </a:p>
          <a:p>
            <a:pPr lvl="0"/>
            <a:r>
              <a:rPr/>
              <a:t>Track trends over time</a:t>
            </a:r>
          </a:p>
          <a:p>
            <a:pPr lvl="0"/>
            <a:r>
              <a:rPr/>
              <a:t>Data stored in SQLite on deployment server (no third-party analytics)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Build a Streamlit web app for early disease detection</a:t>
            </a:r>
          </a:p>
          <a:p>
            <a:pPr lvl="0"/>
            <a:r>
              <a:rPr/>
              <a:t>Parse PDFs with pdfplumber + Tesseract OCR fallback</a:t>
            </a:r>
          </a:p>
          <a:p>
            <a:pPr lvl="0"/>
            <a:r>
              <a:rPr/>
              <a:t>Use regex to extract glucose, HbA1c, BMI, BP, cholesterol</a:t>
            </a:r>
          </a:p>
          <a:p>
            <a:pPr lvl="0"/>
            <a:r>
              <a:rPr/>
              <a:t>Apply clinical formulae (ADA, JNC 8, ACC/AHA)</a:t>
            </a:r>
          </a:p>
          <a:p>
            <a:pPr lvl="0"/>
            <a:r>
              <a:rPr/>
              <a:t>Provide gauges and trend charts (Plotly)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 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┌─────────────────┐     ┌──────────────────┐     ┌─────────────┐
│  Streamlit UI   │────▶│  Services /      │────▶│   SQLite    │
│  (5 pages)      │     │  Models          │     │   Database  │
└─────────────────┘     └──────────────────┘     └─────────────┘
        │                         │
        │  PDF Upload             │  Risk Scores
        ▼                         ▼
┌─────────────────┐     ┌──────────────────┐
│  PDF Parser +   │     │  Diabetes / BP / │
│  OCR            │     │  Cholesterol     │
└─────────────────┘     └──────────────────┘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 Key Modules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Function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Auth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Session-based login, SHA-256 password hash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Patient Profile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CRUD for patients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Upload Report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PDF → text → biomarkers → health record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Risk Dashboard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Compute &amp; display risk scores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History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Trend charts for biomarkers &amp; risk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 Risk Score Formulae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Diabetes (0–100%):</a:t>
            </a:r>
            <a:r>
              <a:rPr/>
              <a:t> - 0.4×glucose_dev + 0.4×hba1c_dev + 0.1×BMI_mod + 0.1×family_history - Ranges: 0–20% Low, 21–50% Moderate, 51–100% High</a:t>
            </a:r>
          </a:p>
          <a:p>
            <a:pPr lvl="0" indent="0" marL="0">
              <a:buNone/>
            </a:pPr>
            <a:r>
              <a:rPr b="1"/>
              <a:t>Blood Pressure:</a:t>
            </a:r>
            <a:r>
              <a:rPr/>
              <a:t> JNC 8 / ACC-AHA 2017</a:t>
            </a:r>
          </a:p>
          <a:p>
            <a:pPr lvl="0" indent="0" marL="0">
              <a:buNone/>
            </a:pPr>
            <a:r>
              <a:rPr b="1"/>
              <a:t>Cholesterol:</a:t>
            </a:r>
            <a:r>
              <a:rPr/>
              <a:t> ACC/AHA 2018 (&lt;200, 200–239, ≥240 mg/dL)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 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Python 3.10+</a:t>
            </a:r>
            <a:r>
              <a:rPr/>
              <a:t>, </a:t>
            </a:r>
            <a:r>
              <a:rPr b="1"/>
              <a:t>Streamlit</a:t>
            </a:r>
          </a:p>
          <a:p>
            <a:pPr lvl="0"/>
            <a:r>
              <a:rPr b="1"/>
              <a:t>SQLite</a:t>
            </a:r>
            <a:r>
              <a:rPr/>
              <a:t> (on deployment server)</a:t>
            </a:r>
          </a:p>
          <a:p>
            <a:pPr lvl="0"/>
            <a:r>
              <a:rPr b="1"/>
              <a:t>pdfplumber</a:t>
            </a:r>
            <a:r>
              <a:rPr/>
              <a:t>, </a:t>
            </a:r>
            <a:r>
              <a:rPr b="1"/>
              <a:t>PyMuPDF</a:t>
            </a:r>
            <a:r>
              <a:rPr/>
              <a:t>, </a:t>
            </a:r>
            <a:r>
              <a:rPr b="1"/>
              <a:t>pytesseract</a:t>
            </a:r>
            <a:r>
              <a:rPr/>
              <a:t>, </a:t>
            </a:r>
            <a:r>
              <a:rPr b="1"/>
              <a:t>Pillow</a:t>
            </a:r>
          </a:p>
          <a:p>
            <a:pPr lvl="0"/>
            <a:r>
              <a:rPr b="1"/>
              <a:t>Plotly</a:t>
            </a:r>
            <a:r>
              <a:rPr/>
              <a:t>, </a:t>
            </a:r>
            <a:r>
              <a:rPr b="1"/>
              <a:t>pandas</a:t>
            </a:r>
            <a:r>
              <a:rPr/>
              <a:t>, </a:t>
            </a:r>
            <a:r>
              <a:rPr b="1"/>
              <a:t>numpy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 Datasets &amp; Sample Reports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sample_patients.csv</a:t>
            </a:r>
            <a:r>
              <a:rPr/>
              <a:t> — 15 demo patients (aligned with report metadata)</a:t>
            </a:r>
          </a:p>
          <a:p>
            <a:pPr lvl="0"/>
            <a:r>
              <a:rPr b="1"/>
              <a:t>sample_health_records.csv</a:t>
            </a:r>
            <a:r>
              <a:rPr/>
              <a:t> — 15 health records (one per patient)</a:t>
            </a:r>
          </a:p>
          <a:p>
            <a:pPr lvl="0"/>
            <a:r>
              <a:rPr b="1"/>
              <a:t>15 PDF lab reports</a:t>
            </a:r>
            <a:r>
              <a:rPr/>
              <a:t> from </a:t>
            </a:r>
            <a:r>
              <a:rPr b="1"/>
              <a:t>5 laboratories</a:t>
            </a:r>
            <a:r>
              <a:rPr/>
              <a:t> (Care Diagnostics, Apollo, Thyro Lab, Metropolitan, Sunrise)</a:t>
            </a:r>
          </a:p>
          <a:p>
            <a:pPr lvl="0"/>
            <a:r>
              <a:rPr b="1"/>
              <a:t>Age groups:</a:t>
            </a:r>
            <a:r>
              <a:rPr/>
              <a:t> 24–70 yrs (young adult to senior)</a:t>
            </a:r>
          </a:p>
          <a:p>
            <a:pPr lvl="0"/>
            <a:r>
              <a:rPr b="1"/>
              <a:t>Risk profiles:</a:t>
            </a:r>
            <a:r>
              <a:rPr/>
              <a:t> 5 low, 5 moderate, 5 high</a:t>
            </a:r>
          </a:p>
          <a:p>
            <a:pPr lvl="0"/>
            <a:r>
              <a:rPr/>
              <a:t>Load sample data from Home page when DB empty; Reset &amp; reload when needed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9. Demo &amp; Results</a:t>
            </a:r>
          </a:p>
        </p:txBody>
      </p:sp>
      <p:pic>
        <p:nvPicPr>
          <p:cNvPr descr="screenshots/01_Login_Pag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060700" y="1193800"/>
            <a:ext cx="3022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Login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Patient profile creation and CRUD</a:t>
            </a:r>
          </a:p>
          <a:p>
            <a:pPr lvl="0"/>
            <a:r>
              <a:rPr/>
              <a:t>PDF upload → text extraction (pdfplumber / OCR)</a:t>
            </a:r>
          </a:p>
          <a:p>
            <a:pPr lvl="0"/>
            <a:r>
              <a:rPr/>
              <a:t>Biomarker parsing and user verification; Save Health Record → status: pending → processed</a:t>
            </a:r>
          </a:p>
          <a:p>
            <a:pPr lvl="0"/>
            <a:r>
              <a:rPr/>
              <a:t>Risk dashboard with gauge charts</a:t>
            </a:r>
          </a:p>
          <a:p>
            <a:pPr lvl="0"/>
            <a:r>
              <a:rPr/>
              <a:t>History: risk trends, biomarker trends, uploaded reports (status: processed / pending / failed)</a:t>
            </a:r>
          </a:p>
          <a:p>
            <a:pPr lvl="0"/>
            <a:r>
              <a:rPr/>
              <a:t>Sample data loader (15 patients, 15 records) for empty DB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10. Deployment (Git &amp; Streamlit Cloud)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Git upload:</a:t>
            </a:r>
            <a:r>
              <a:rPr/>
              <a:t> </a:t>
            </a:r>
            <a:r>
              <a:rPr>
                <a:latin typeface="Courier"/>
              </a:rPr>
              <a:t>git init</a:t>
            </a:r>
            <a:r>
              <a:rPr/>
              <a:t> → </a:t>
            </a:r>
            <a:r>
              <a:rPr>
                <a:latin typeface="Courier"/>
              </a:rPr>
              <a:t>git add .</a:t>
            </a:r>
            <a:r>
              <a:rPr/>
              <a:t> → </a:t>
            </a:r>
            <a:r>
              <a:rPr>
                <a:latin typeface="Courier"/>
              </a:rPr>
              <a:t>git commit</a:t>
            </a:r>
            <a:r>
              <a:rPr/>
              <a:t> → </a:t>
            </a:r>
            <a:r>
              <a:rPr>
                <a:latin typeface="Courier"/>
              </a:rPr>
              <a:t>git remote add origin</a:t>
            </a:r>
            <a:r>
              <a:rPr/>
              <a:t> → </a:t>
            </a:r>
            <a:r>
              <a:rPr>
                <a:latin typeface="Courier"/>
              </a:rPr>
              <a:t>git push -u origin main</a:t>
            </a:r>
          </a:p>
          <a:p>
            <a:pPr lvl="0" indent="0" marL="0">
              <a:buNone/>
            </a:pPr>
            <a:r>
              <a:rPr b="1"/>
              <a:t>Streamlit Cloud:</a:t>
            </a:r>
            <a:r>
              <a:rPr/>
              <a:t> Push to GitHub → share.streamlit.io → Create app → Select repo, main file path (</a:t>
            </a:r>
            <a:r>
              <a:rPr>
                <a:latin typeface="Courier"/>
              </a:rPr>
              <a:t>MedGuardian_Project/app.py</a:t>
            </a:r>
            <a:r>
              <a:rPr/>
              <a:t>) → Add secrets (</a:t>
            </a:r>
            <a:r>
              <a:rPr>
                <a:latin typeface="Courier"/>
              </a:rPr>
              <a:t>ADMIN_PASSWORD_HASH</a:t>
            </a:r>
            <a:r>
              <a:rPr/>
              <a:t>) → Deploy. App runs at </a:t>
            </a:r>
            <a:r>
              <a:rPr>
                <a:latin typeface="Courier"/>
              </a:rPr>
              <a:t>https://&lt;name&gt;.streamlit.app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11.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Tesseract must be installed separately; not available on Streamlit Cloud</a:t>
            </a:r>
          </a:p>
          <a:p>
            <a:pPr lvl="0"/>
            <a:r>
              <a:rPr/>
              <a:t>Single admin user; no multi-tenancy</a:t>
            </a:r>
          </a:p>
          <a:p>
            <a:pPr lvl="0"/>
            <a:r>
              <a:rPr/>
              <a:t>Regex may not cover all lab report formats</a:t>
            </a:r>
          </a:p>
          <a:p>
            <a:pPr lvl="0"/>
            <a:r>
              <a:rPr/>
              <a:t>No EHR/LIS integration</a:t>
            </a:r>
          </a:p>
          <a:p>
            <a:pPr lvl="0"/>
            <a:r>
              <a:rPr/>
              <a:t>Ephemeral DB on Streamlit Cloud; load sample data after each cold start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12.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More biomarkers (triglycerides, LDL, HDL, creatinine)</a:t>
            </a:r>
          </a:p>
          <a:p>
            <a:pPr lvl="0"/>
            <a:r>
              <a:rPr/>
              <a:t>Multi-user roles (admin, clinician, patient)</a:t>
            </a:r>
          </a:p>
          <a:p>
            <a:pPr lvl="0"/>
            <a:r>
              <a:rPr/>
              <a:t>Export reports to PDF</a:t>
            </a:r>
          </a:p>
          <a:p>
            <a:pPr lvl="0"/>
            <a:r>
              <a:rPr/>
              <a:t>Integration with lab information systems</a:t>
            </a:r>
          </a:p>
          <a:p>
            <a:pPr lvl="0"/>
            <a:r>
              <a:rPr/>
              <a:t>Mobile responsiveness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13.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MedGuardian delivers an </a:t>
            </a:r>
            <a:r>
              <a:rPr b="1"/>
              <a:t>AI-assisted early disease detection</a:t>
            </a:r>
            <a:r>
              <a:rPr/>
              <a:t> system that: - Parses PDF lab reports (text + OCR) - Extracts biomarkers automatically - Detects early disease risk (diabetes, hypertension, cholesterol) - Stores data in SQLite on deployment server - Provides gauge charts and trend visualisation - Supports 15 sample reports from 5 laboratories</a:t>
            </a:r>
          </a:p>
          <a:p>
            <a:pPr lvl="0" indent="0" marL="0">
              <a:buNone/>
            </a:pPr>
            <a:r>
              <a:rPr b="1"/>
              <a:t>Thank You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 &amp; 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Contact:</a:t>
            </a:r>
            <a:r>
              <a:rPr/>
              <a:t> [Your Full Name]</a:t>
            </a:r>
            <a:br/>
            <a:r>
              <a:rPr b="1"/>
              <a:t>Roll No:</a:t>
            </a:r>
            <a:r>
              <a:rPr/>
              <a:t> [Your Roll No]</a:t>
            </a:r>
            <a:br/>
            <a:r>
              <a:rPr b="1"/>
              <a:t>Guide:</a:t>
            </a:r>
            <a:r>
              <a:rPr/>
              <a:t> [Guide Name]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2026-03-09T19:24:44Z</dcterms:created>
  <dcterms:modified xsi:type="dcterms:W3CDTF">2026-03-09T19:24:44Z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ackgroundColor">
    <vt:lpwstr/>
  </property>
  <property fmtid="{D5CDD505-2E9C-101B-9397-08002B2CF9AE}" pid="3" name="marp">
    <vt:lpwstr>True</vt:lpwstr>
  </property>
  <property fmtid="{D5CDD505-2E9C-101B-9397-08002B2CF9AE}" pid="4" name="paginate">
    <vt:lpwstr>True</vt:lpwstr>
  </property>
  <property fmtid="{D5CDD505-2E9C-101B-9397-08002B2CF9AE}" pid="5" name="style">
    <vt:lpwstr>section { font-size: 28px; } h1 { color: #2c3e50; } h2 { color: #3498db; }</vt:lpwstr>
  </property>
  <property fmtid="{D5CDD505-2E9C-101B-9397-08002B2CF9AE}" pid="6" name="theme">
    <vt:lpwstr>default</vt:lpwstr>
  </property>
</Properties>
</file>